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56" r:id="rId1"/>
  </p:sldMasterIdLst>
  <p:notesMasterIdLst>
    <p:notesMasterId r:id="rId16"/>
  </p:notesMasterIdLst>
  <p:sldIdLst>
    <p:sldId id="293" r:id="rId2"/>
    <p:sldId id="259" r:id="rId3"/>
    <p:sldId id="260" r:id="rId4"/>
    <p:sldId id="261" r:id="rId5"/>
    <p:sldId id="262" r:id="rId6"/>
    <p:sldId id="263" r:id="rId7"/>
    <p:sldId id="275" r:id="rId8"/>
    <p:sldId id="266" r:id="rId9"/>
    <p:sldId id="267" r:id="rId10"/>
    <p:sldId id="268" r:id="rId11"/>
    <p:sldId id="291" r:id="rId12"/>
    <p:sldId id="292" r:id="rId13"/>
    <p:sldId id="269" r:id="rId14"/>
    <p:sldId id="29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E6A7E1-CE79-4056-AFB6-AD2F67A5C3A8}" v="78" dt="2026-01-29T07:52:08.7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83" autoAdjust="0"/>
  </p:normalViewPr>
  <p:slideViewPr>
    <p:cSldViewPr snapToGrid="0">
      <p:cViewPr>
        <p:scale>
          <a:sx n="77" d="100"/>
          <a:sy n="77" d="100"/>
        </p:scale>
        <p:origin x="91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AN M" userId="31b0d3dca0fbbe38" providerId="LiveId" clId="{237564A6-D029-4F1A-B09B-AAC326B9F299}"/>
    <pc:docChg chg="undo redo custSel modSld">
      <pc:chgData name="CHARAN M" userId="31b0d3dca0fbbe38" providerId="LiveId" clId="{237564A6-D029-4F1A-B09B-AAC326B9F299}" dt="2026-03-19T05:41:07.661" v="901" actId="14100"/>
      <pc:docMkLst>
        <pc:docMk/>
      </pc:docMkLst>
      <pc:sldChg chg="addSp delSp modSp mod">
        <pc:chgData name="CHARAN M" userId="31b0d3dca0fbbe38" providerId="LiveId" clId="{237564A6-D029-4F1A-B09B-AAC326B9F299}" dt="2026-03-19T05:41:07.661" v="901" actId="14100"/>
        <pc:sldMkLst>
          <pc:docMk/>
          <pc:sldMk cId="633315139" sldId="267"/>
        </pc:sldMkLst>
        <pc:picChg chg="add mod ord">
          <ac:chgData name="CHARAN M" userId="31b0d3dca0fbbe38" providerId="LiveId" clId="{237564A6-D029-4F1A-B09B-AAC326B9F299}" dt="2026-03-19T05:41:07.661" v="901" actId="14100"/>
          <ac:picMkLst>
            <pc:docMk/>
            <pc:sldMk cId="633315139" sldId="267"/>
            <ac:picMk id="13" creationId="{9E148CC5-1C39-4059-AE69-3E7FB196671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17BDAE-133D-48CF-A987-22A9C7004863}" type="datetimeFigureOut">
              <a:rPr lang="en-IN" smtClean="0"/>
              <a:t>19-03-2026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6B3A0-DCB4-4343-8A96-C64A7881CC2C}" type="slidenum">
              <a:rPr lang="en-IN" smtClean="0"/>
              <a:t>‹#›</a:t>
            </a:fld>
            <a:endParaRPr lang="en-IN"/>
          </a:p>
        </p:txBody>
      </p:sp>
    </p:spTree>
    <p:extLst>
      <p:ext uri="{BB962C8B-B14F-4D97-AF65-F5344CB8AC3E}">
        <p14:creationId xmlns:p14="http://schemas.microsoft.com/office/powerpoint/2010/main" val="1145050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2BB824-F4F4-4FC5-96E6-5F60027AAA02}"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2978023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2BB824-F4F4-4FC5-96E6-5F60027AAA02}"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1745838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2BB824-F4F4-4FC5-96E6-5F60027AAA02}"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1457969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2BB824-F4F4-4FC5-96E6-5F60027AAA02}"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986159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2BB824-F4F4-4FC5-96E6-5F60027AAA02}" type="datetimeFigureOut">
              <a:rPr lang="en-IN" smtClean="0"/>
              <a:t>19-03-2026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4169531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2BB824-F4F4-4FC5-96E6-5F60027AAA02}"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718511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2BB824-F4F4-4FC5-96E6-5F60027AAA02}" type="datetimeFigureOut">
              <a:rPr lang="en-IN" smtClean="0"/>
              <a:t>19-03-2026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553886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2BB824-F4F4-4FC5-96E6-5F60027AAA02}"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85756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2BB824-F4F4-4FC5-96E6-5F60027AAA02}"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104955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2BB824-F4F4-4FC5-96E6-5F60027AAA02}"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1666373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2BB824-F4F4-4FC5-96E6-5F60027AAA02}"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2089A12-4B4A-4063-887F-22CCFFC54829}"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999958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E2BB824-F4F4-4FC5-96E6-5F60027AAA02}"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661598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E2BB824-F4F4-4FC5-96E6-5F60027AAA02}"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2089A12-4B4A-4063-887F-22CCFFC54829}"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629382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E2BB824-F4F4-4FC5-96E6-5F60027AAA02}"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3653033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2BB824-F4F4-4FC5-96E6-5F60027AAA02}"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16397519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2BB824-F4F4-4FC5-96E6-5F60027AAA02}"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2089A12-4B4A-4063-887F-22CCFFC54829}" type="slidenum">
              <a:rPr lang="en-IN" smtClean="0"/>
              <a:t>‹#›</a:t>
            </a:fld>
            <a:endParaRPr lang="en-IN"/>
          </a:p>
        </p:txBody>
      </p:sp>
    </p:spTree>
    <p:extLst>
      <p:ext uri="{BB962C8B-B14F-4D97-AF65-F5344CB8AC3E}">
        <p14:creationId xmlns:p14="http://schemas.microsoft.com/office/powerpoint/2010/main" val="1734134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E2BB824-F4F4-4FC5-96E6-5F60027AAA02}" type="datetimeFigureOut">
              <a:rPr lang="en-IN" smtClean="0"/>
              <a:t>19-03-2026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2089A12-4B4A-4063-887F-22CCFFC54829}" type="slidenum">
              <a:rPr lang="en-IN" smtClean="0"/>
              <a:t>‹#›</a:t>
            </a:fld>
            <a:endParaRPr lang="en-IN"/>
          </a:p>
        </p:txBody>
      </p:sp>
    </p:spTree>
    <p:extLst>
      <p:ext uri="{BB962C8B-B14F-4D97-AF65-F5344CB8AC3E}">
        <p14:creationId xmlns:p14="http://schemas.microsoft.com/office/powerpoint/2010/main" val="1180330838"/>
      </p:ext>
    </p:extLst>
  </p:cSld>
  <p:clrMap bg1="lt1" tx1="dk1" bg2="lt2" tx2="dk2" accent1="accent1" accent2="accent2" accent3="accent3" accent4="accent4" accent5="accent5" accent6="accent6" hlink="hlink" folHlink="folHlink"/>
  <p:sldLayoutIdLst>
    <p:sldLayoutId id="2147484257" r:id="rId1"/>
    <p:sldLayoutId id="2147484258" r:id="rId2"/>
    <p:sldLayoutId id="2147484259" r:id="rId3"/>
    <p:sldLayoutId id="2147484260" r:id="rId4"/>
    <p:sldLayoutId id="2147484261" r:id="rId5"/>
    <p:sldLayoutId id="2147484262" r:id="rId6"/>
    <p:sldLayoutId id="2147484263" r:id="rId7"/>
    <p:sldLayoutId id="2147484264" r:id="rId8"/>
    <p:sldLayoutId id="2147484265" r:id="rId9"/>
    <p:sldLayoutId id="2147484266" r:id="rId10"/>
    <p:sldLayoutId id="2147484267" r:id="rId11"/>
    <p:sldLayoutId id="2147484268" r:id="rId12"/>
    <p:sldLayoutId id="2147484269" r:id="rId13"/>
    <p:sldLayoutId id="2147484270" r:id="rId14"/>
    <p:sldLayoutId id="2147484271" r:id="rId15"/>
    <p:sldLayoutId id="214748427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7125" y="666444"/>
            <a:ext cx="8911687" cy="1280890"/>
          </a:xfrm>
        </p:spPr>
        <p:txBody>
          <a:bodyPr>
            <a:normAutofit/>
          </a:bodyPr>
          <a:lstStyle/>
          <a:p>
            <a:pPr algn="ctr"/>
            <a:r>
              <a:rPr lang="en-US" b="1" dirty="0"/>
              <a:t>A Systematic Review of Predicting Elections Based on Social Media Data</a:t>
            </a:r>
            <a:endParaRPr lang="en-IN" b="1" dirty="0"/>
          </a:p>
        </p:txBody>
      </p:sp>
      <p:sp>
        <p:nvSpPr>
          <p:cNvPr id="5" name="Content Placeholder 4"/>
          <p:cNvSpPr>
            <a:spLocks noGrp="1"/>
          </p:cNvSpPr>
          <p:nvPr>
            <p:ph idx="1"/>
          </p:nvPr>
        </p:nvSpPr>
        <p:spPr>
          <a:xfrm>
            <a:off x="1828799" y="2607733"/>
            <a:ext cx="8727545" cy="3777622"/>
          </a:xfrm>
        </p:spPr>
        <p:txBody>
          <a:bodyPr/>
          <a:lstStyle/>
          <a:p>
            <a:pPr marL="0" indent="0">
              <a:buNone/>
            </a:pPr>
            <a:r>
              <a:rPr lang="en-US" sz="2000" b="1" dirty="0">
                <a:latin typeface="Times New Roman" panose="02020603050405020304" pitchFamily="18" charset="0"/>
                <a:cs typeface="Times New Roman" panose="02020603050405020304" pitchFamily="18" charset="0"/>
              </a:rPr>
              <a:t>                          UNDER THE GUIDANCE OF</a:t>
            </a:r>
          </a:p>
          <a:p>
            <a:pPr marL="0" indent="0">
              <a:buNone/>
            </a:pPr>
            <a:r>
              <a:rPr lang="en-US" sz="2000" b="1" dirty="0">
                <a:latin typeface="Times New Roman" panose="02020603050405020304" pitchFamily="18" charset="0"/>
                <a:cs typeface="Times New Roman" panose="02020603050405020304" pitchFamily="18" charset="0"/>
              </a:rPr>
              <a:t>                                                     MR. T. SRINIVASULU</a:t>
            </a:r>
          </a:p>
          <a:p>
            <a:pPr marL="0" indent="0">
              <a:buNone/>
            </a:pPr>
            <a:endParaRPr lang="en-US" dirty="0"/>
          </a:p>
          <a:p>
            <a:pPr marL="0" indent="0">
              <a:buNone/>
            </a:pPr>
            <a:r>
              <a:rPr lang="en-IN" b="1" dirty="0">
                <a:solidFill>
                  <a:schemeClr val="tx1"/>
                </a:solidFill>
                <a:latin typeface="Times New Roman" panose="02020603050405020304" pitchFamily="18" charset="0"/>
                <a:cs typeface="Times New Roman" panose="02020603050405020304" pitchFamily="18" charset="0"/>
              </a:rPr>
              <a:t>TEAM MEMBERS:</a:t>
            </a:r>
          </a:p>
          <a:p>
            <a:pPr marL="0" indent="0">
              <a:buNone/>
            </a:pPr>
            <a:r>
              <a:rPr lang="en-IN" b="1" dirty="0">
                <a:solidFill>
                  <a:schemeClr val="tx1"/>
                </a:solidFill>
                <a:latin typeface="Times New Roman" panose="02020603050405020304" pitchFamily="18" charset="0"/>
                <a:cs typeface="Times New Roman" panose="02020603050405020304" pitchFamily="18" charset="0"/>
              </a:rPr>
              <a:t>M. CHARAN</a:t>
            </a:r>
          </a:p>
          <a:p>
            <a:pPr marL="0" indent="0">
              <a:buNone/>
            </a:pPr>
            <a:r>
              <a:rPr lang="en-IN" b="1" dirty="0">
                <a:solidFill>
                  <a:schemeClr val="tx1"/>
                </a:solidFill>
                <a:latin typeface="Times New Roman" panose="02020603050405020304" pitchFamily="18" charset="0"/>
                <a:cs typeface="Times New Roman" panose="02020603050405020304" pitchFamily="18" charset="0"/>
              </a:rPr>
              <a:t>M.N.S. GOWTHAM RAJ</a:t>
            </a:r>
          </a:p>
          <a:p>
            <a:pPr marL="0" indent="0">
              <a:buNone/>
            </a:pPr>
            <a:r>
              <a:rPr lang="en-IN" b="1" dirty="0">
                <a:solidFill>
                  <a:schemeClr val="tx1"/>
                </a:solidFill>
                <a:latin typeface="Times New Roman" panose="02020603050405020304" pitchFamily="18" charset="0"/>
                <a:cs typeface="Times New Roman" panose="02020603050405020304" pitchFamily="18" charset="0"/>
              </a:rPr>
              <a:t>B. </a:t>
            </a:r>
            <a:r>
              <a:rPr lang="en-IN" b="1">
                <a:solidFill>
                  <a:schemeClr val="tx1"/>
                </a:solidFill>
                <a:latin typeface="Times New Roman" panose="02020603050405020304" pitchFamily="18" charset="0"/>
                <a:cs typeface="Times New Roman" panose="02020603050405020304" pitchFamily="18" charset="0"/>
              </a:rPr>
              <a:t>HARI KETHAN</a:t>
            </a:r>
            <a:endParaRPr lang="en-IN" b="1" dirty="0">
              <a:solidFill>
                <a:schemeClr val="tx1"/>
              </a:solidFill>
              <a:latin typeface="Times New Roman" panose="02020603050405020304" pitchFamily="18" charset="0"/>
              <a:cs typeface="Times New Roman" panose="02020603050405020304" pitchFamily="18" charset="0"/>
            </a:endParaRPr>
          </a:p>
          <a:p>
            <a:pPr marL="0" indent="0">
              <a:buNone/>
            </a:pPr>
            <a:r>
              <a:rPr lang="en-US" b="1" dirty="0">
                <a:solidFill>
                  <a:schemeClr val="tx1"/>
                </a:solidFill>
                <a:latin typeface="Times New Roman" panose="02020603050405020304" pitchFamily="18" charset="0"/>
                <a:cs typeface="Times New Roman" panose="02020603050405020304" pitchFamily="18" charset="0"/>
              </a:rPr>
              <a:t>K. VENKATA SIVA MEGHANA</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0172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5145" y="688341"/>
            <a:ext cx="10515600" cy="1325563"/>
          </a:xfrm>
        </p:spPr>
        <p:txBody>
          <a:bodyPr>
            <a:normAutofit/>
          </a:bodyPr>
          <a:lstStyle/>
          <a:p>
            <a:r>
              <a:rPr lang="en-IN" sz="3200" b="1"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1872879" y="1448490"/>
            <a:ext cx="8946541" cy="4726243"/>
          </a:xfrm>
        </p:spPr>
        <p:txBody>
          <a:bodyPr>
            <a:noAutofit/>
          </a:bodyPr>
          <a:lstStyle/>
          <a:p>
            <a:pPr>
              <a:buFont typeface="Wingdings" panose="05000000000000000000" pitchFamily="2" charset="2"/>
              <a:buChar char="q"/>
            </a:pPr>
            <a:r>
              <a:rPr lang="en-IN" b="1" dirty="0">
                <a:solidFill>
                  <a:schemeClr val="tx1"/>
                </a:solidFill>
                <a:latin typeface="Times New Roman" panose="02020603050405020304" pitchFamily="18" charset="0"/>
                <a:cs typeface="Times New Roman" panose="02020603050405020304" pitchFamily="18" charset="0"/>
              </a:rPr>
              <a:t>ABSTRACT</a:t>
            </a:r>
          </a:p>
          <a:p>
            <a:pPr>
              <a:buFont typeface="Wingdings" panose="05000000000000000000" pitchFamily="2" charset="2"/>
              <a:buChar char="q"/>
            </a:pPr>
            <a:r>
              <a:rPr lang="en-IN" b="1" dirty="0">
                <a:solidFill>
                  <a:schemeClr val="tx1"/>
                </a:solidFill>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q"/>
            </a:pPr>
            <a:r>
              <a:rPr lang="en-IN" b="1" dirty="0">
                <a:solidFill>
                  <a:schemeClr val="tx1"/>
                </a:solidFill>
                <a:latin typeface="Times New Roman" panose="02020603050405020304" pitchFamily="18" charset="0"/>
                <a:cs typeface="Times New Roman" panose="02020603050405020304" pitchFamily="18" charset="0"/>
              </a:rPr>
              <a:t>EXISTING SYSTEM</a:t>
            </a:r>
          </a:p>
          <a:p>
            <a:pPr>
              <a:buFont typeface="Wingdings" panose="05000000000000000000" pitchFamily="2" charset="2"/>
              <a:buChar char="q"/>
            </a:pPr>
            <a:r>
              <a:rPr lang="en-IN" b="1" dirty="0">
                <a:solidFill>
                  <a:schemeClr val="tx1"/>
                </a:solidFill>
                <a:latin typeface="Times New Roman" panose="02020603050405020304" pitchFamily="18" charset="0"/>
                <a:cs typeface="Times New Roman" panose="02020603050405020304" pitchFamily="18" charset="0"/>
              </a:rPr>
              <a:t>DISADVANTAGES</a:t>
            </a:r>
          </a:p>
          <a:p>
            <a:pPr>
              <a:buFont typeface="Wingdings" panose="05000000000000000000" pitchFamily="2" charset="2"/>
              <a:buChar char="q"/>
            </a:pPr>
            <a:r>
              <a:rPr lang="en-IN" b="1" dirty="0">
                <a:solidFill>
                  <a:schemeClr val="tx1"/>
                </a:solidFill>
                <a:latin typeface="Times New Roman" panose="02020603050405020304" pitchFamily="18" charset="0"/>
                <a:cs typeface="Times New Roman" panose="02020603050405020304" pitchFamily="18" charset="0"/>
              </a:rPr>
              <a:t>PROPOSED SYSTEM</a:t>
            </a:r>
          </a:p>
          <a:p>
            <a:pPr>
              <a:buFont typeface="Wingdings" panose="05000000000000000000" pitchFamily="2" charset="2"/>
              <a:buChar char="q"/>
            </a:pPr>
            <a:r>
              <a:rPr lang="en-IN" b="1" dirty="0">
                <a:solidFill>
                  <a:schemeClr val="tx1"/>
                </a:solidFill>
                <a:latin typeface="Times New Roman" panose="02020603050405020304" pitchFamily="18" charset="0"/>
                <a:cs typeface="Times New Roman" panose="02020603050405020304" pitchFamily="18" charset="0"/>
              </a:rPr>
              <a:t>ADVANTAGES</a:t>
            </a:r>
          </a:p>
          <a:p>
            <a:pPr>
              <a:buFont typeface="Wingdings" panose="05000000000000000000" pitchFamily="2" charset="2"/>
              <a:buChar char="q"/>
            </a:pPr>
            <a:r>
              <a:rPr lang="en-IN" b="1" dirty="0">
                <a:solidFill>
                  <a:schemeClr val="tx1"/>
                </a:solidFill>
                <a:latin typeface="Times New Roman" panose="02020603050405020304" pitchFamily="18" charset="0"/>
                <a:cs typeface="Times New Roman" panose="02020603050405020304" pitchFamily="18" charset="0"/>
              </a:rPr>
              <a:t>ARCHITECTURE</a:t>
            </a:r>
          </a:p>
          <a:p>
            <a:pPr>
              <a:buFont typeface="Wingdings" panose="05000000000000000000" pitchFamily="2" charset="2"/>
              <a:buChar char="q"/>
            </a:pPr>
            <a:r>
              <a:rPr lang="en-US" b="1" dirty="0">
                <a:solidFill>
                  <a:schemeClr val="tx1"/>
                </a:solidFill>
                <a:latin typeface="Times New Roman" panose="02020603050405020304" pitchFamily="18" charset="0"/>
                <a:cs typeface="Times New Roman" panose="02020603050405020304" pitchFamily="18" charset="0"/>
              </a:rPr>
              <a:t>SYSTEM REQURIEMENT </a:t>
            </a:r>
            <a:r>
              <a:rPr lang="en-US" b="1">
                <a:solidFill>
                  <a:schemeClr val="tx1"/>
                </a:solidFill>
                <a:latin typeface="Times New Roman" panose="02020603050405020304" pitchFamily="18" charset="0"/>
                <a:cs typeface="Times New Roman" panose="02020603050405020304" pitchFamily="18" charset="0"/>
              </a:rPr>
              <a:t>AND SPECIFICATIONS</a:t>
            </a:r>
            <a:endParaRPr lang="en-IN" b="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b="1" dirty="0">
                <a:solidFill>
                  <a:schemeClr val="tx1"/>
                </a:solidFill>
                <a:latin typeface="Times New Roman" panose="02020603050405020304" pitchFamily="18" charset="0"/>
                <a:cs typeface="Times New Roman" panose="02020603050405020304" pitchFamily="18" charset="0"/>
              </a:rPr>
              <a:t>ALGORITHM</a:t>
            </a:r>
            <a:endParaRPr lang="en-IN" b="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b="1" dirty="0">
                <a:solidFill>
                  <a:schemeClr val="tx1"/>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802423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74799" y="573494"/>
            <a:ext cx="2472266" cy="1200329"/>
          </a:xfrm>
          <a:prstGeom prst="rect">
            <a:avLst/>
          </a:prstGeom>
          <a:noFill/>
        </p:spPr>
        <p:txBody>
          <a:bodyPr wrap="square" rtlCol="0">
            <a:spAutoFit/>
          </a:bodyPr>
          <a:lstStyle/>
          <a:p>
            <a:pPr algn="ctr">
              <a:lnSpc>
                <a:spcPct val="150000"/>
              </a:lnSpc>
            </a:pPr>
            <a:r>
              <a:rPr lang="en-US" sz="2800" b="1" dirty="0">
                <a:latin typeface="Times New Roman" panose="02020603050405020304" pitchFamily="18" charset="0"/>
                <a:cs typeface="Times New Roman" panose="02020603050405020304" pitchFamily="18" charset="0"/>
              </a:rPr>
              <a:t>ABSTRACT</a:t>
            </a: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3" name="TextBox 2"/>
          <p:cNvSpPr txBox="1"/>
          <p:nvPr/>
        </p:nvSpPr>
        <p:spPr>
          <a:xfrm rot="10800000">
            <a:off x="2310141" y="6946459"/>
            <a:ext cx="9485625" cy="464871"/>
          </a:xfrm>
          <a:prstGeom prst="rect">
            <a:avLst/>
          </a:prstGeom>
          <a:noFill/>
        </p:spPr>
        <p:txBody>
          <a:bodyPr wrap="square" rtlCol="0">
            <a:spAutoFit/>
          </a:bodyPr>
          <a:lstStyle/>
          <a:p>
            <a:pPr>
              <a:lnSpc>
                <a:spcPct val="150000"/>
              </a:lnSpc>
            </a:pPr>
            <a:endParaRPr lang="en-IN" dirty="0"/>
          </a:p>
        </p:txBody>
      </p:sp>
      <p:sp>
        <p:nvSpPr>
          <p:cNvPr id="5" name="Rectangle 2"/>
          <p:cNvSpPr>
            <a:spLocks noChangeArrowheads="1"/>
          </p:cNvSpPr>
          <p:nvPr/>
        </p:nvSpPr>
        <p:spPr bwMode="auto">
          <a:xfrm rot="10800000" flipV="1">
            <a:off x="854786" y="3110357"/>
            <a:ext cx="10530346" cy="914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lnSpc>
                <a:spcPct val="150000"/>
              </a:lnSpc>
              <a:spcBef>
                <a:spcPct val="0"/>
              </a:spcBef>
              <a:spcAft>
                <a:spcPct val="0"/>
              </a:spcAft>
            </a:pPr>
            <a:endPar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2" name="Rectangle 1"/>
          <p:cNvSpPr/>
          <p:nvPr/>
        </p:nvSpPr>
        <p:spPr>
          <a:xfrm>
            <a:off x="2184510" y="1425139"/>
            <a:ext cx="7822980" cy="5539978"/>
          </a:xfrm>
          <a:prstGeom prst="rect">
            <a:avLst/>
          </a:prstGeom>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Using Natural Language Processing (NLP) and Machine Learning (ML), the system automatically analyzes large-scale social media data to predict election outcomes based on predefined electoral criteria and constraints. It processes bulk data from platforms such as Twitter and Facebook in real time and evaluates them against historical election results and traditional polling data. Additionally, the system examines multiple factors including sentiment, user behavior, and network characteristics to obtain more reliable and comprehensive predictive insights, improving the accuracy and robustness of election forecasting. </a:t>
            </a:r>
            <a:endParaRPr lang="en-IN" sz="2000" dirty="0">
              <a:latin typeface="Times New Roman" panose="02020603050405020304" pitchFamily="18" charset="0"/>
              <a:cs typeface="Times New Roman" panose="02020603050405020304" pitchFamily="18" charset="0"/>
            </a:endParaRPr>
          </a:p>
          <a:p>
            <a:r>
              <a:rPr lang="en-US" sz="2400" dirty="0"/>
              <a:t> </a:t>
            </a:r>
            <a:endParaRPr lang="en-IN" sz="2400" dirty="0"/>
          </a:p>
          <a:p>
            <a:endParaRPr lang="en-IN" sz="24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085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25778" y="704249"/>
            <a:ext cx="10308657" cy="591553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INTRODUCTION</a:t>
            </a:r>
          </a:p>
          <a:p>
            <a:endParaRPr lang="en-US" sz="24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Automation: </a:t>
            </a:r>
            <a:r>
              <a:rPr lang="en-US" sz="2000" dirty="0">
                <a:latin typeface="Times New Roman" panose="02020603050405020304" pitchFamily="18" charset="0"/>
                <a:cs typeface="Times New Roman" panose="02020603050405020304" pitchFamily="18" charset="0"/>
              </a:rPr>
              <a:t>Uses Artificial Intelligence techniques such as Natural Language Processing (NLP) and Machine Learning (ML) to automate the analysis of social media data for predicting election outcomes.</a:t>
            </a:r>
          </a:p>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 Extraction</a:t>
            </a:r>
            <a:r>
              <a:rPr lang="en-IN" sz="2000" dirty="0"/>
              <a:t>: </a:t>
            </a:r>
            <a:r>
              <a:rPr lang="en-US" sz="2000" dirty="0">
                <a:latin typeface="Times New Roman" panose="02020603050405020304" pitchFamily="18" charset="0"/>
                <a:cs typeface="Times New Roman" panose="02020603050405020304" pitchFamily="18" charset="0"/>
              </a:rPr>
              <a:t> Extracts election-related opinions, sentiments, and trends from social media.</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Electoral Context Analysis: </a:t>
            </a:r>
            <a:r>
              <a:rPr lang="en-US" sz="2000" dirty="0">
                <a:latin typeface="Times New Roman" panose="02020603050405020304" pitchFamily="18" charset="0"/>
                <a:cs typeface="Times New Roman" panose="02020603050405020304" pitchFamily="18" charset="0"/>
              </a:rPr>
              <a:t>Identifies key election factors such as country, year, and type of election.</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Predictive Modeling: </a:t>
            </a:r>
            <a:r>
              <a:rPr lang="en-US" sz="2000" dirty="0">
                <a:latin typeface="Times New Roman" panose="02020603050405020304" pitchFamily="18" charset="0"/>
                <a:cs typeface="Times New Roman" panose="02020603050405020304" pitchFamily="18" charset="0"/>
              </a:rPr>
              <a:t>Applies machine learning and regression models to relate social media indicators with historical election results.</a:t>
            </a:r>
          </a:p>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Scalable System</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Processes large volumes of social media data efficiently.</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Bias Reduction</a:t>
            </a:r>
            <a:r>
              <a:rPr lang="en-US" sz="2000" dirty="0">
                <a:latin typeface="Times New Roman" panose="02020603050405020304" pitchFamily="18" charset="0"/>
                <a:cs typeface="Times New Roman" panose="02020603050405020304" pitchFamily="18" charset="0"/>
              </a:rPr>
              <a:t>: Reduces the effect of spam, bias, and misleading information to improve prediction accuracy.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7539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3090" y="697305"/>
            <a:ext cx="9709609" cy="1215717"/>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EXSISTING SYSTEM:</a:t>
            </a:r>
          </a:p>
          <a:p>
            <a:endParaRPr lang="en-IN" dirty="0"/>
          </a:p>
          <a:p>
            <a:pPr>
              <a:lnSpc>
                <a:spcPct val="150000"/>
              </a:lnSpc>
            </a:pPr>
            <a:endParaRPr lang="en-IN" dirty="0"/>
          </a:p>
        </p:txBody>
      </p:sp>
      <p:sp>
        <p:nvSpPr>
          <p:cNvPr id="7" name="Rectangle 2"/>
          <p:cNvSpPr>
            <a:spLocks noChangeArrowheads="1"/>
          </p:cNvSpPr>
          <p:nvPr/>
        </p:nvSpPr>
        <p:spPr bwMode="auto">
          <a:xfrm rot="10800000" flipV="1">
            <a:off x="1131537" y="1246982"/>
            <a:ext cx="6361463" cy="5288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lang="en-US" altLang="en-US" sz="2400" dirty="0">
              <a:latin typeface="Times New Roman" panose="02020603050405020304" pitchFamily="18" charset="0"/>
              <a:cs typeface="Times New Roman" panose="02020603050405020304" pitchFamily="18" charset="0"/>
            </a:endParaRPr>
          </a:p>
          <a:p>
            <a:pPr marL="342900" lvl="0" indent="-342900"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Prediction of elections based on manual analysis of polls and traditional survey methods.</a:t>
            </a:r>
          </a:p>
          <a:p>
            <a:pPr lvl="0" defTabSz="914400"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2000" dirty="0">
                <a:latin typeface="Times New Roman" panose="02020603050405020304" pitchFamily="18" charset="0"/>
                <a:cs typeface="Times New Roman" panose="02020603050405020304" pitchFamily="18" charset="0"/>
              </a:rPr>
              <a:t>Time-consuming</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Prone</a:t>
            </a:r>
            <a:r>
              <a:rPr kumimoji="0" lang="en-US" altLang="en-US" sz="20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to bias</a:t>
            </a:r>
          </a:p>
          <a:p>
            <a:pPr marL="342900" lvl="0" indent="-342900"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May produce inaccurate </a:t>
            </a:r>
          </a:p>
          <a:p>
            <a:pPr lvl="0" defTabSz="914400"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    results due to noise, spam, </a:t>
            </a:r>
          </a:p>
          <a:p>
            <a:pPr lvl="0" defTabSz="914400"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    and lack of advanced </a:t>
            </a:r>
          </a:p>
          <a:p>
            <a:pPr lvl="0" defTabSz="914400"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    modeling techniques.</a:t>
            </a:r>
            <a:endParaRPr kumimoji="0" lang="en-US" altLang="en-US" sz="20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601817" y="2787529"/>
            <a:ext cx="7073718" cy="3587872"/>
          </a:xfrm>
          <a:blipFill>
            <a:blip r:embed="rId3"/>
            <a:tile tx="0" ty="0" sx="100000" sy="100000" flip="none" algn="tl"/>
          </a:blipFill>
        </p:spPr>
      </p:pic>
    </p:spTree>
    <p:extLst>
      <p:ext uri="{BB962C8B-B14F-4D97-AF65-F5344CB8AC3E}">
        <p14:creationId xmlns:p14="http://schemas.microsoft.com/office/powerpoint/2010/main" val="3572062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48955" y="697879"/>
            <a:ext cx="10039546" cy="4955203"/>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Disadvantages of Existing System:</a:t>
            </a:r>
            <a:endParaRPr lang="en-IN" sz="2800" b="1" dirty="0">
              <a:latin typeface="Times New Roman" panose="02020603050405020304" pitchFamily="18" charset="0"/>
              <a:cs typeface="Times New Roman" panose="02020603050405020304" pitchFamily="18" charset="0"/>
            </a:endParaRPr>
          </a:p>
          <a:p>
            <a:r>
              <a:rPr lang="en-US" dirty="0"/>
              <a:t> </a:t>
            </a:r>
            <a:endParaRPr lang="en-IN" dirty="0"/>
          </a:p>
          <a:p>
            <a:pPr marL="342900" indent="-342900">
              <a:lnSpc>
                <a:spcPct val="15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Parsing Errors: </a:t>
            </a:r>
            <a:r>
              <a:rPr lang="en-US" sz="2400" dirty="0">
                <a:latin typeface="Times New Roman" panose="02020603050405020304" pitchFamily="18" charset="0"/>
                <a:cs typeface="Times New Roman" panose="02020603050405020304" pitchFamily="18" charset="0"/>
              </a:rPr>
              <a:t>May misinterpret informal or sarcastic political language.</a:t>
            </a:r>
          </a:p>
          <a:p>
            <a:pPr marL="342900" indent="-342900">
              <a:lnSpc>
                <a:spcPct val="15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Bias in Training Data: </a:t>
            </a:r>
            <a:r>
              <a:rPr lang="en-US" sz="2400" dirty="0">
                <a:latin typeface="Times New Roman" panose="02020603050405020304" pitchFamily="18" charset="0"/>
                <a:cs typeface="Times New Roman" panose="02020603050405020304" pitchFamily="18" charset="0"/>
              </a:rPr>
              <a:t>Biased social media samples can lead to inaccurate predictions.</a:t>
            </a:r>
          </a:p>
          <a:p>
            <a:pPr marL="342900" indent="-342900">
              <a:lnSpc>
                <a:spcPct val="15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Limited Context Understanding: </a:t>
            </a:r>
            <a:r>
              <a:rPr lang="en-US" sz="2400" dirty="0">
                <a:latin typeface="Times New Roman" panose="02020603050405020304" pitchFamily="18" charset="0"/>
                <a:cs typeface="Times New Roman" panose="02020603050405020304" pitchFamily="18" charset="0"/>
              </a:rPr>
              <a:t>Fails to capture full political meaning and nuances.</a:t>
            </a:r>
          </a:p>
          <a:p>
            <a:pPr marL="342900" indent="-342900">
              <a:lnSpc>
                <a:spcPct val="15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Less Accuracy: </a:t>
            </a:r>
            <a:r>
              <a:rPr lang="en-US" sz="2400" dirty="0">
                <a:latin typeface="Times New Roman" panose="02020603050405020304" pitchFamily="18" charset="0"/>
                <a:cs typeface="Times New Roman" panose="02020603050405020304" pitchFamily="18" charset="0"/>
              </a:rPr>
              <a:t>Produces unreliable prediction results.</a:t>
            </a:r>
            <a:endParaRPr lang="en-US" sz="2400" b="1"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Low Efficiency: </a:t>
            </a:r>
            <a:r>
              <a:rPr lang="en-US" sz="2400" dirty="0">
                <a:latin typeface="Times New Roman" panose="02020603050405020304" pitchFamily="18" charset="0"/>
                <a:cs typeface="Times New Roman" panose="02020603050405020304" pitchFamily="18" charset="0"/>
              </a:rPr>
              <a:t>Slow</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not suitable for large-scale data.</a:t>
            </a:r>
            <a:endParaRPr lang="en-IN" sz="2400" dirty="0"/>
          </a:p>
          <a:p>
            <a:endParaRPr lang="en-IN" dirty="0"/>
          </a:p>
        </p:txBody>
      </p:sp>
    </p:spTree>
    <p:extLst>
      <p:ext uri="{BB962C8B-B14F-4D97-AF65-F5344CB8AC3E}">
        <p14:creationId xmlns:p14="http://schemas.microsoft.com/office/powerpoint/2010/main" val="3180673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rot="10800000" flipV="1">
            <a:off x="1610139" y="601427"/>
            <a:ext cx="9893114" cy="570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PROPOSED 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An AI-based automatic election prediction and analysis system:</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Uses Natural Language Processing (NLP) to understand social media content.</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Matches public opinions and trends with electoral criteria.</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Scores and predicts candidates’ performance.</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Automated social media data collection and preprocessing.</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Sentiment and trend analysis.</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Machine learning–based prediction and ranking.</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Context-aware and bias-reduction filters.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0938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1496" y="684365"/>
            <a:ext cx="10944519" cy="769441"/>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Advantages of proposed system: </a:t>
            </a:r>
          </a:p>
          <a:p>
            <a:endParaRPr lang="en-IN" sz="1600" b="1"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1363720" y="1629205"/>
            <a:ext cx="1123229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defTabSz="9144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High Accuracy: </a:t>
            </a:r>
            <a:r>
              <a:rPr lang="en-US" altLang="en-US" sz="2400" dirty="0">
                <a:latin typeface="Times New Roman" panose="02020603050405020304" pitchFamily="18" charset="0"/>
                <a:cs typeface="Times New Roman" panose="02020603050405020304" pitchFamily="18" charset="0"/>
              </a:rPr>
              <a:t>Produces reliable election predictions.</a:t>
            </a:r>
          </a:p>
          <a:p>
            <a:pPr marL="342900" lvl="0" indent="-342900" defTabSz="9144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Automated Analysis: </a:t>
            </a:r>
            <a:r>
              <a:rPr lang="en-US" altLang="en-US" sz="2400" dirty="0">
                <a:latin typeface="Times New Roman" panose="02020603050405020304" pitchFamily="18" charset="0"/>
                <a:cs typeface="Times New Roman" panose="02020603050405020304" pitchFamily="18" charset="0"/>
              </a:rPr>
              <a:t>Processes social media data automatically.</a:t>
            </a:r>
          </a:p>
          <a:p>
            <a:pPr marL="342900" lvl="0" indent="-342900" defTabSz="9144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Opinion Extraction: </a:t>
            </a:r>
            <a:r>
              <a:rPr lang="en-US" altLang="en-US" sz="2400" dirty="0">
                <a:latin typeface="Times New Roman" panose="02020603050405020304" pitchFamily="18" charset="0"/>
                <a:cs typeface="Times New Roman" panose="02020603050405020304" pitchFamily="18" charset="0"/>
              </a:rPr>
              <a:t>Identifies public sentiment and trends.</a:t>
            </a:r>
          </a:p>
          <a:p>
            <a:pPr marL="342900" lvl="0" indent="-342900" defTabSz="9144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Smart Prediction: </a:t>
            </a:r>
            <a:r>
              <a:rPr lang="en-US" altLang="en-US" sz="2400" dirty="0">
                <a:latin typeface="Times New Roman" panose="02020603050405020304" pitchFamily="18" charset="0"/>
                <a:cs typeface="Times New Roman" panose="02020603050405020304" pitchFamily="18" charset="0"/>
              </a:rPr>
              <a:t>Ranks candidates using prediction scores.</a:t>
            </a:r>
          </a:p>
          <a:p>
            <a:pPr marL="342900" lvl="0" indent="-342900" defTabSz="9144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Time Efficiency: </a:t>
            </a:r>
            <a:r>
              <a:rPr lang="en-US" altLang="en-US" sz="2400" dirty="0">
                <a:latin typeface="Times New Roman" panose="02020603050405020304" pitchFamily="18" charset="0"/>
                <a:cs typeface="Times New Roman" panose="02020603050405020304" pitchFamily="18" charset="0"/>
              </a:rPr>
              <a:t>Reduces time and manual effort.</a:t>
            </a:r>
          </a:p>
          <a:p>
            <a:pPr marL="342900" lvl="0" indent="-342900" defTabSz="9144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Improved Insights: </a:t>
            </a:r>
            <a:r>
              <a:rPr lang="en-US" altLang="en-US" sz="2400" dirty="0">
                <a:latin typeface="Times New Roman" panose="02020603050405020304" pitchFamily="18" charset="0"/>
                <a:cs typeface="Times New Roman" panose="02020603050405020304" pitchFamily="18" charset="0"/>
              </a:rPr>
              <a:t>Improves forecasting quality.</a:t>
            </a: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2311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12886" y="416983"/>
            <a:ext cx="8898903" cy="818044"/>
          </a:xfrm>
          <a:prstGeom prst="rect">
            <a:avLst/>
          </a:prstGeom>
          <a:noFill/>
        </p:spPr>
        <p:txBody>
          <a:bodyPr wrap="square" rtlCol="0">
            <a:spAutoFit/>
          </a:bodyPr>
          <a:lstStyle/>
          <a:p>
            <a:pPr>
              <a:lnSpc>
                <a:spcPct val="200000"/>
              </a:lnSpc>
            </a:pPr>
            <a:r>
              <a:rPr lang="en-IN" sz="2800" b="1" dirty="0"/>
              <a:t>ARCHITECTURE :</a:t>
            </a:r>
            <a:endParaRPr lang="en-IN" dirty="0"/>
          </a:p>
        </p:txBody>
      </p:sp>
      <p:pic>
        <p:nvPicPr>
          <p:cNvPr id="13" name="Content Placeholder 12">
            <a:extLst>
              <a:ext uri="{FF2B5EF4-FFF2-40B4-BE49-F238E27FC236}">
                <a16:creationId xmlns:a16="http://schemas.microsoft.com/office/drawing/2014/main" id="{9E148CC5-1C39-4059-AE69-3E7FB19667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09729" y="1113197"/>
            <a:ext cx="7302059" cy="5594068"/>
          </a:xfrm>
          <a:prstGeom prst="rect">
            <a:avLst/>
          </a:prstGeom>
        </p:spPr>
      </p:pic>
    </p:spTree>
    <p:extLst>
      <p:ext uri="{BB962C8B-B14F-4D97-AF65-F5344CB8AC3E}">
        <p14:creationId xmlns:p14="http://schemas.microsoft.com/office/powerpoint/2010/main" val="633315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40808" y="685714"/>
            <a:ext cx="8135332" cy="6186309"/>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Hardware requirements:</a:t>
            </a:r>
          </a:p>
          <a:p>
            <a:endParaRPr lang="en-US" sz="2000" dirty="0">
              <a:latin typeface="Times New Roman" panose="02020603050405020304" pitchFamily="18" charset="0"/>
              <a:cs typeface="Times New Roman" panose="02020603050405020304" pitchFamily="18" charset="0"/>
            </a:endParaRPr>
          </a:p>
          <a:p>
            <a:r>
              <a:rPr lang="en-US" b="1" dirty="0"/>
              <a:t>Processor    :</a:t>
            </a:r>
            <a:r>
              <a:rPr lang="en-US" dirty="0"/>
              <a:t>  Pentium-IV</a:t>
            </a:r>
          </a:p>
          <a:p>
            <a:r>
              <a:rPr lang="en-US" b="1" dirty="0"/>
              <a:t>RAM            :  </a:t>
            </a:r>
            <a:r>
              <a:rPr lang="en-US" dirty="0"/>
              <a:t>4 GB (min)</a:t>
            </a:r>
          </a:p>
          <a:p>
            <a:r>
              <a:rPr lang="en-US" b="1" dirty="0"/>
              <a:t>Hard Disk    :  </a:t>
            </a:r>
            <a:r>
              <a:rPr lang="en-US" dirty="0"/>
              <a:t>20 GB</a:t>
            </a:r>
          </a:p>
          <a:p>
            <a:r>
              <a:rPr lang="en-US" b="1" dirty="0"/>
              <a:t>Keyboard   :  </a:t>
            </a:r>
            <a:r>
              <a:rPr lang="en-US" dirty="0"/>
              <a:t>Standard Windows Keyboard</a:t>
            </a:r>
          </a:p>
          <a:p>
            <a:r>
              <a:rPr lang="en-US" b="1" dirty="0"/>
              <a:t>Mouse         :  </a:t>
            </a:r>
            <a:r>
              <a:rPr lang="en-US" dirty="0"/>
              <a:t>Two or Three Button Mouse</a:t>
            </a:r>
          </a:p>
          <a:p>
            <a:r>
              <a:rPr lang="en-US" b="1" dirty="0"/>
              <a:t>Monitor       :</a:t>
            </a:r>
            <a:r>
              <a:rPr lang="en-US" dirty="0"/>
              <a:t>   SVGA</a:t>
            </a:r>
          </a:p>
          <a:p>
            <a:endParaRPr lang="en-US" dirty="0"/>
          </a:p>
          <a:p>
            <a:r>
              <a:rPr lang="en-US" sz="2800" b="1" dirty="0">
                <a:latin typeface="Times New Roman" panose="02020603050405020304" pitchFamily="18" charset="0"/>
                <a:cs typeface="Times New Roman" panose="02020603050405020304" pitchFamily="18" charset="0"/>
              </a:rPr>
              <a:t>Software requirements: </a:t>
            </a:r>
          </a:p>
          <a:p>
            <a:endParaRPr lang="en-IN" sz="2800" b="1" dirty="0">
              <a:latin typeface="Times New Roman" panose="02020603050405020304" pitchFamily="18" charset="0"/>
              <a:cs typeface="Times New Roman" panose="02020603050405020304" pitchFamily="18" charset="0"/>
            </a:endParaRPr>
          </a:p>
          <a:p>
            <a:pPr lvl="0"/>
            <a:r>
              <a:rPr lang="en-US" b="1" dirty="0"/>
              <a:t>Operating system 	:   </a:t>
            </a:r>
            <a:r>
              <a:rPr lang="en-US" dirty="0"/>
              <a:t>Windows 7 Ultimate.</a:t>
            </a:r>
            <a:endParaRPr lang="en-IN" dirty="0"/>
          </a:p>
          <a:p>
            <a:pPr lvl="0"/>
            <a:r>
              <a:rPr lang="en-US" b="1" dirty="0"/>
              <a:t>Coding Language	:   </a:t>
            </a:r>
            <a:r>
              <a:rPr lang="en-US" dirty="0"/>
              <a:t>Python.</a:t>
            </a:r>
            <a:endParaRPr lang="en-IN" dirty="0"/>
          </a:p>
          <a:p>
            <a:pPr lvl="0"/>
            <a:r>
              <a:rPr lang="en-US" b="1" dirty="0"/>
              <a:t>Front-End			:   </a:t>
            </a:r>
            <a:r>
              <a:rPr lang="en-US" dirty="0"/>
              <a:t>Python.</a:t>
            </a:r>
            <a:endParaRPr lang="en-IN" dirty="0"/>
          </a:p>
          <a:p>
            <a:pPr lvl="0"/>
            <a:r>
              <a:rPr lang="en-US" b="1" dirty="0"/>
              <a:t>Back-End			:   </a:t>
            </a:r>
            <a:r>
              <a:rPr lang="en-US" dirty="0"/>
              <a:t>Django-ORM</a:t>
            </a:r>
            <a:endParaRPr lang="en-IN" dirty="0"/>
          </a:p>
          <a:p>
            <a:pPr lvl="0"/>
            <a:r>
              <a:rPr lang="en-US" b="1" dirty="0"/>
              <a:t>Designing			:</a:t>
            </a:r>
            <a:r>
              <a:rPr lang="en-US" dirty="0"/>
              <a:t>   Html, </a:t>
            </a:r>
            <a:r>
              <a:rPr lang="en-US" dirty="0" err="1"/>
              <a:t>css</a:t>
            </a:r>
            <a:r>
              <a:rPr lang="en-US" dirty="0"/>
              <a:t>, </a:t>
            </a:r>
            <a:r>
              <a:rPr lang="en-US" dirty="0" err="1"/>
              <a:t>javascript</a:t>
            </a:r>
            <a:r>
              <a:rPr lang="en-US" dirty="0"/>
              <a:t>.</a:t>
            </a:r>
            <a:endParaRPr lang="en-IN" dirty="0"/>
          </a:p>
          <a:p>
            <a:pPr lvl="0"/>
            <a:r>
              <a:rPr lang="en-US" b="1" dirty="0"/>
              <a:t>Data Base			:   </a:t>
            </a:r>
            <a:r>
              <a:rPr lang="en-US" dirty="0"/>
              <a:t>MySQL (WAMP Server).</a:t>
            </a:r>
            <a:endParaRPr lang="en-IN" dirty="0"/>
          </a:p>
          <a:p>
            <a:pPr>
              <a:lnSpc>
                <a:spcPct val="200000"/>
              </a:lnSpc>
            </a:pP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40251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2231176703"/>
              </p:ext>
            </p:extLst>
          </p:nvPr>
        </p:nvGraphicFramePr>
        <p:xfrm>
          <a:off x="1439061" y="1303865"/>
          <a:ext cx="9882186" cy="5355352"/>
        </p:xfrm>
        <a:graphic>
          <a:graphicData uri="http://schemas.openxmlformats.org/drawingml/2006/table">
            <a:tbl>
              <a:tblPr firstRow="1" bandRow="1">
                <a:tableStyleId>{5C22544A-7EE6-4342-B048-85BDC9FD1C3A}</a:tableStyleId>
              </a:tblPr>
              <a:tblGrid>
                <a:gridCol w="2236751">
                  <a:extLst>
                    <a:ext uri="{9D8B030D-6E8A-4147-A177-3AD203B41FA5}">
                      <a16:colId xmlns:a16="http://schemas.microsoft.com/office/drawing/2014/main" val="20000"/>
                    </a:ext>
                  </a:extLst>
                </a:gridCol>
                <a:gridCol w="2267788">
                  <a:extLst>
                    <a:ext uri="{9D8B030D-6E8A-4147-A177-3AD203B41FA5}">
                      <a16:colId xmlns:a16="http://schemas.microsoft.com/office/drawing/2014/main" val="20001"/>
                    </a:ext>
                  </a:extLst>
                </a:gridCol>
                <a:gridCol w="2205714">
                  <a:extLst>
                    <a:ext uri="{9D8B030D-6E8A-4147-A177-3AD203B41FA5}">
                      <a16:colId xmlns:a16="http://schemas.microsoft.com/office/drawing/2014/main" val="20002"/>
                    </a:ext>
                  </a:extLst>
                </a:gridCol>
                <a:gridCol w="3171933">
                  <a:extLst>
                    <a:ext uri="{9D8B030D-6E8A-4147-A177-3AD203B41FA5}">
                      <a16:colId xmlns:a16="http://schemas.microsoft.com/office/drawing/2014/main" val="20003"/>
                    </a:ext>
                  </a:extLst>
                </a:gridCol>
              </a:tblGrid>
              <a:tr h="732529">
                <a:tc>
                  <a:txBody>
                    <a:bodyPr/>
                    <a:lstStyle/>
                    <a:p>
                      <a:r>
                        <a:rPr lang="en-US" sz="1400" b="1" kern="1200" dirty="0">
                          <a:solidFill>
                            <a:schemeClr val="lt1"/>
                          </a:solidFill>
                          <a:effectLst/>
                          <a:latin typeface="+mn-lt"/>
                          <a:ea typeface="+mn-ea"/>
                          <a:cs typeface="+mn-cs"/>
                        </a:rPr>
                        <a:t>Author &amp; Year of Publication</a:t>
                      </a:r>
                      <a:endParaRPr lang="en-IN" sz="1400" dirty="0"/>
                    </a:p>
                  </a:txBody>
                  <a:tcPr/>
                </a:tc>
                <a:tc>
                  <a:txBody>
                    <a:bodyPr/>
                    <a:lstStyle/>
                    <a:p>
                      <a:pPr>
                        <a:lnSpc>
                          <a:spcPct val="115000"/>
                        </a:lnSpc>
                        <a:spcAft>
                          <a:spcPts val="0"/>
                        </a:spcAft>
                      </a:pPr>
                      <a:r>
                        <a:rPr lang="en-US" sz="1400" b="1" dirty="0">
                          <a:effectLst/>
                          <a:latin typeface="Times New Roman" panose="02020603050405020304" pitchFamily="18" charset="0"/>
                          <a:ea typeface="MS Mincho"/>
                          <a:cs typeface="Times New Roman" panose="02020603050405020304" pitchFamily="18" charset="0"/>
                        </a:rPr>
                        <a:t>Applied Technique</a:t>
                      </a:r>
                      <a:endParaRPr lang="en-IN" sz="14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b="1" dirty="0">
                          <a:effectLst/>
                          <a:latin typeface="Times New Roman" panose="02020603050405020304" pitchFamily="18" charset="0"/>
                          <a:ea typeface="MS Mincho"/>
                          <a:cs typeface="Times New Roman" panose="02020603050405020304" pitchFamily="18" charset="0"/>
                        </a:rPr>
                        <a:t>Used Algorithms for Performance Analysis</a:t>
                      </a:r>
                      <a:endParaRPr lang="en-IN" sz="14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b="1" dirty="0">
                          <a:effectLst/>
                          <a:latin typeface="Cambria" panose="02040503050406030204" pitchFamily="18" charset="0"/>
                          <a:ea typeface="MS Mincho"/>
                          <a:cs typeface="Times New Roman" panose="02020603050405020304" pitchFamily="18" charset="0"/>
                        </a:rPr>
                        <a:t>Major Contribution</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764822">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[1]. </a:t>
                      </a:r>
                      <a:r>
                        <a:rPr lang="en-US" sz="1400" dirty="0" err="1">
                          <a:effectLst/>
                          <a:latin typeface="Cambria" panose="02040503050406030204" pitchFamily="18" charset="0"/>
                          <a:ea typeface="MS Mincho"/>
                          <a:cs typeface="Times New Roman" panose="02020603050405020304" pitchFamily="18" charset="0"/>
                        </a:rPr>
                        <a:t>Kalampokis</a:t>
                      </a:r>
                      <a:r>
                        <a:rPr lang="en-US" sz="1400" dirty="0">
                          <a:effectLst/>
                          <a:latin typeface="Cambria" panose="02040503050406030204" pitchFamily="18" charset="0"/>
                          <a:ea typeface="MS Mincho"/>
                          <a:cs typeface="Times New Roman" panose="02020603050405020304" pitchFamily="18" charset="0"/>
                        </a:rPr>
                        <a:t> et al  (2013)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Machine Learning &amp; Statistics</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Linear regression, correlation analysis</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Analyzed predictive power of social media data for elections.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64822">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[2]. Gayo-Avello (2013)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IN" sz="1400" dirty="0">
                          <a:effectLst/>
                          <a:latin typeface="Cambria" panose="02040503050406030204" pitchFamily="18" charset="0"/>
                          <a:ea typeface="MS Mincho"/>
                          <a:cs typeface="Times New Roman" panose="02020603050405020304" pitchFamily="18" charset="0"/>
                        </a:rPr>
                        <a:t>Sentiment &amp; Volume Analysis</a:t>
                      </a: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Lexicon-based sentiment, regression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Identified limitations of Twitter-based election.</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502435">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[3]. Prada (2015)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Twitter Analytics</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Classification, frequency analysis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Reviewed Twitter-based prediction methods across domains.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502435">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[4]. O’Leary (2015)</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Predictive Analytics</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Regression, trend modeling</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Studied social media trends for political forecasting.</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02435">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[5]. Kwak &amp; Cho (2018)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Survey &amp; Statistical Analysis</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 Statistical evaluation methods</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Showed social media is better for agenda analysis than prediction.</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02435">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[6]. Koli et al. (2019)</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 Sentiment Analysis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 Naïve Bayes, SVM</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Compared prediction performance in developed vs developing countries.</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502435">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[7]. Bilal et al. (2020)</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Multilingual NLP</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NLP classifiers, lexicon models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Highlighted challenges in non-English election prediction.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581004">
                <a:tc>
                  <a:txBody>
                    <a:bodyPr/>
                    <a:lstStyle/>
                    <a:p>
                      <a:pPr>
                        <a:lnSpc>
                          <a:spcPct val="115000"/>
                        </a:lnSpc>
                        <a:spcAft>
                          <a:spcPts val="0"/>
                        </a:spcAft>
                      </a:pPr>
                      <a:r>
                        <a:rPr lang="fr-FR" sz="1400" dirty="0">
                          <a:effectLst/>
                          <a:latin typeface="Cambria" panose="02040503050406030204" pitchFamily="18" charset="0"/>
                          <a:ea typeface="MS Mincho"/>
                          <a:cs typeface="Times New Roman" panose="02020603050405020304" pitchFamily="18" charset="0"/>
                        </a:rPr>
                        <a:t>[8]. </a:t>
                      </a:r>
                      <a:r>
                        <a:rPr lang="fr-FR" sz="1400" dirty="0" err="1">
                          <a:effectLst/>
                          <a:latin typeface="Cambria" panose="02040503050406030204" pitchFamily="18" charset="0"/>
                          <a:ea typeface="MS Mincho"/>
                          <a:cs typeface="Times New Roman" panose="02020603050405020304" pitchFamily="18" charset="0"/>
                        </a:rPr>
                        <a:t>Ceron</a:t>
                      </a:r>
                      <a:r>
                        <a:rPr lang="fr-FR" sz="1400" dirty="0">
                          <a:effectLst/>
                          <a:latin typeface="Cambria" panose="02040503050406030204" pitchFamily="18" charset="0"/>
                          <a:ea typeface="MS Mincho"/>
                          <a:cs typeface="Times New Roman" panose="02020603050405020304" pitchFamily="18" charset="0"/>
                        </a:rPr>
                        <a:t> et al. (2021)</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Machine Learning &amp; Hybrid Models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Regression, ensemble methods</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400" dirty="0">
                          <a:effectLst/>
                          <a:latin typeface="Cambria" panose="02040503050406030204" pitchFamily="18" charset="0"/>
                          <a:ea typeface="MS Mincho"/>
                          <a:cs typeface="Times New Roman" panose="02020603050405020304" pitchFamily="18" charset="0"/>
                        </a:rPr>
                        <a:t>Improved accuracy by combining polls with social media data. </a:t>
                      </a:r>
                      <a:endParaRPr lang="en-IN" sz="14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sp>
        <p:nvSpPr>
          <p:cNvPr id="8" name="Rectangle 7"/>
          <p:cNvSpPr/>
          <p:nvPr/>
        </p:nvSpPr>
        <p:spPr>
          <a:xfrm>
            <a:off x="955658" y="639110"/>
            <a:ext cx="4234938" cy="548099"/>
          </a:xfrm>
          <a:prstGeom prst="rect">
            <a:avLst/>
          </a:prstGeom>
        </p:spPr>
        <p:txBody>
          <a:bodyPr wrap="square">
            <a:spAutoFit/>
          </a:bodyPr>
          <a:lstStyle/>
          <a:p>
            <a:pPr algn="ctr">
              <a:lnSpc>
                <a:spcPct val="115000"/>
              </a:lnSpc>
              <a:spcBef>
                <a:spcPts val="2400"/>
              </a:spcBef>
              <a:spcAft>
                <a:spcPts val="0"/>
              </a:spcAft>
            </a:pPr>
            <a:r>
              <a:rPr lang="en-US" sz="2800" b="1" kern="0" dirty="0">
                <a:latin typeface="Times New Roman" panose="02020603050405020304" pitchFamily="18" charset="0"/>
                <a:ea typeface="MS Gothic" panose="020B0609070205080204" pitchFamily="49" charset="-128"/>
                <a:cs typeface="Times New Roman" panose="02020603050405020304" pitchFamily="18" charset="0"/>
              </a:rPr>
              <a:t>Literature Survey</a:t>
            </a:r>
            <a:endParaRPr lang="en-IN" sz="2800" b="1" kern="0" dirty="0">
              <a:effectLst/>
              <a:latin typeface="Times New Roman" panose="02020603050405020304" pitchFamily="18" charset="0"/>
              <a:ea typeface="MS Gothic" panose="020B0609070205080204" pitchFamily="49" charset="-128"/>
              <a:cs typeface="Times New Roman" panose="02020603050405020304" pitchFamily="18" charset="0"/>
            </a:endParaRPr>
          </a:p>
        </p:txBody>
      </p:sp>
    </p:spTree>
    <p:extLst>
      <p:ext uri="{BB962C8B-B14F-4D97-AF65-F5344CB8AC3E}">
        <p14:creationId xmlns:p14="http://schemas.microsoft.com/office/powerpoint/2010/main" val="3485646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8" y="683376"/>
            <a:ext cx="8911687" cy="628957"/>
          </a:xfrm>
        </p:spPr>
        <p:txBody>
          <a:bodyPr>
            <a:normAutofit/>
          </a:bodyPr>
          <a:lstStyle/>
          <a:p>
            <a:r>
              <a:rPr lang="en-US" sz="2800" b="1" dirty="0">
                <a:latin typeface="Times New Roman" panose="02020603050405020304" pitchFamily="18" charset="0"/>
                <a:cs typeface="Times New Roman" panose="02020603050405020304" pitchFamily="18" charset="0"/>
              </a:rPr>
              <a:t>ALGORITHM:</a:t>
            </a:r>
            <a:endParaRPr lang="en-IN" sz="2800"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2152658" y="1902472"/>
            <a:ext cx="964140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None/>
            </a:pPr>
            <a:r>
              <a:rPr lang="en-US" altLang="en-US" sz="2000" b="1" dirty="0">
                <a:solidFill>
                  <a:schemeClr val="tx1"/>
                </a:solidFill>
                <a:latin typeface="Times New Roman" panose="02020603050405020304" pitchFamily="18" charset="0"/>
                <a:cs typeface="Times New Roman" panose="02020603050405020304" pitchFamily="18" charset="0"/>
              </a:rPr>
              <a:t>1. Decision Trees : </a:t>
            </a:r>
            <a:r>
              <a:rPr lang="en-US" altLang="en-US" sz="2000" dirty="0">
                <a:solidFill>
                  <a:schemeClr val="tx1"/>
                </a:solidFill>
                <a:latin typeface="Times New Roman" panose="02020603050405020304" pitchFamily="18" charset="0"/>
                <a:cs typeface="Times New Roman" panose="02020603050405020304" pitchFamily="18" charset="0"/>
              </a:rPr>
              <a:t>Decision Trees classify data by splitting it into subsets based on feature values and forming a tree structure. In this project, they are used to predict election outcomes from social media features.</a:t>
            </a:r>
          </a:p>
          <a:p>
            <a:pPr marL="0" lvl="0" indent="0" defTabSz="914400" eaLnBrk="0" fontAlgn="base" hangingPunct="0">
              <a:spcBef>
                <a:spcPct val="0"/>
              </a:spcBef>
              <a:spcAft>
                <a:spcPct val="0"/>
              </a:spcAft>
              <a:buClrTx/>
              <a:buFontTx/>
              <a:buChar char="•"/>
            </a:pPr>
            <a:endParaRPr lang="en-US" altLang="en-US" sz="2000" b="1" dirty="0">
              <a:solidFill>
                <a:schemeClr val="tx1"/>
              </a:solidFill>
              <a:latin typeface="Times New Roman" panose="02020603050405020304" pitchFamily="18" charset="0"/>
              <a:cs typeface="Times New Roman" panose="02020603050405020304" pitchFamily="18" charset="0"/>
            </a:endParaRPr>
          </a:p>
          <a:p>
            <a:pPr marL="0" lvl="0" indent="0" defTabSz="914400" eaLnBrk="0" fontAlgn="base" hangingPunct="0">
              <a:spcBef>
                <a:spcPct val="0"/>
              </a:spcBef>
              <a:spcAft>
                <a:spcPct val="0"/>
              </a:spcAft>
              <a:buClrTx/>
              <a:buNone/>
            </a:pPr>
            <a:r>
              <a:rPr lang="en-US" altLang="en-US" sz="2000" b="1" dirty="0">
                <a:solidFill>
                  <a:schemeClr val="tx1"/>
                </a:solidFill>
                <a:latin typeface="Times New Roman" panose="02020603050405020304" pitchFamily="18" charset="0"/>
                <a:cs typeface="Times New Roman" panose="02020603050405020304" pitchFamily="18" charset="0"/>
              </a:rPr>
              <a:t>2. K-Nearest </a:t>
            </a:r>
            <a:r>
              <a:rPr lang="en-US" altLang="en-US" sz="2000" b="1" dirty="0" err="1">
                <a:solidFill>
                  <a:schemeClr val="tx1"/>
                </a:solidFill>
                <a:latin typeface="Times New Roman" panose="02020603050405020304" pitchFamily="18" charset="0"/>
                <a:cs typeface="Times New Roman" panose="02020603050405020304" pitchFamily="18" charset="0"/>
              </a:rPr>
              <a:t>Neighbours</a:t>
            </a:r>
            <a:r>
              <a:rPr lang="en-US" altLang="en-US" sz="2000" b="1" dirty="0">
                <a:solidFill>
                  <a:schemeClr val="tx1"/>
                </a:solidFill>
                <a:latin typeface="Times New Roman" panose="02020603050405020304" pitchFamily="18" charset="0"/>
                <a:cs typeface="Times New Roman" panose="02020603050405020304" pitchFamily="18" charset="0"/>
              </a:rPr>
              <a:t> (KNN) : </a:t>
            </a:r>
            <a:r>
              <a:rPr lang="en-US" altLang="en-US" sz="2000" dirty="0">
                <a:solidFill>
                  <a:schemeClr val="tx1"/>
                </a:solidFill>
                <a:latin typeface="Times New Roman" panose="02020603050405020304" pitchFamily="18" charset="0"/>
                <a:cs typeface="Times New Roman" panose="02020603050405020304" pitchFamily="18" charset="0"/>
              </a:rPr>
              <a:t>KNN classifies a data point based on the majority class of its nearest neighbors. In this project, it predicts election results by comparing new data with historical data.</a:t>
            </a:r>
          </a:p>
          <a:p>
            <a:pPr marL="0" lvl="0" indent="0" defTabSz="914400" eaLnBrk="0" fontAlgn="base" hangingPunct="0">
              <a:spcBef>
                <a:spcPct val="0"/>
              </a:spcBef>
              <a:spcAft>
                <a:spcPct val="0"/>
              </a:spcAft>
              <a:buClrTx/>
              <a:buNone/>
            </a:pPr>
            <a:endParaRPr lang="en-US" altLang="en-US" sz="2000" b="1" dirty="0">
              <a:solidFill>
                <a:schemeClr val="tx1"/>
              </a:solidFill>
              <a:latin typeface="Times New Roman" panose="02020603050405020304" pitchFamily="18" charset="0"/>
              <a:cs typeface="Times New Roman" panose="02020603050405020304" pitchFamily="18" charset="0"/>
            </a:endParaRPr>
          </a:p>
          <a:p>
            <a:pPr marL="0" lvl="0" indent="0" defTabSz="914400" eaLnBrk="0" fontAlgn="base" hangingPunct="0">
              <a:spcBef>
                <a:spcPct val="0"/>
              </a:spcBef>
              <a:spcAft>
                <a:spcPct val="0"/>
              </a:spcAft>
              <a:buClrTx/>
              <a:buNone/>
            </a:pPr>
            <a:r>
              <a:rPr lang="en-US" altLang="en-US" sz="2000" b="1" dirty="0">
                <a:solidFill>
                  <a:schemeClr val="tx1"/>
                </a:solidFill>
                <a:latin typeface="Times New Roman" panose="02020603050405020304" pitchFamily="18" charset="0"/>
                <a:cs typeface="Times New Roman" panose="02020603050405020304" pitchFamily="18" charset="0"/>
              </a:rPr>
              <a:t>3. Logistic Regression : </a:t>
            </a:r>
            <a:r>
              <a:rPr lang="en-US" altLang="en-US" sz="2000" dirty="0">
                <a:solidFill>
                  <a:schemeClr val="tx1"/>
                </a:solidFill>
                <a:latin typeface="Times New Roman" panose="02020603050405020304" pitchFamily="18" charset="0"/>
                <a:cs typeface="Times New Roman" panose="02020603050405020304" pitchFamily="18" charset="0"/>
              </a:rPr>
              <a:t>Logistic Regression predicts the probability of a binary outcome using a sigmoid function. In this project, it is used to classify whether a candidate is likely to win or lose.</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5452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347" y="535362"/>
            <a:ext cx="9926053" cy="7841827"/>
          </a:xfrm>
          <a:prstGeom prst="rect">
            <a:avLst/>
          </a:prstGeom>
          <a:noFill/>
        </p:spPr>
        <p:txBody>
          <a:bodyPr wrap="square" rtlCol="0">
            <a:spAutoFit/>
          </a:bodyPr>
          <a:lstStyle/>
          <a:p>
            <a:pPr algn="just">
              <a:lnSpc>
                <a:spcPct val="150000"/>
              </a:lnSpc>
            </a:pPr>
            <a:r>
              <a:rPr lang="en-IN" sz="3200" b="1" dirty="0">
                <a:latin typeface="Times New Roman" panose="02020603050405020304" pitchFamily="18" charset="0"/>
                <a:cs typeface="Times New Roman" panose="02020603050405020304" pitchFamily="18" charset="0"/>
              </a:rPr>
              <a:t>CONCLUSION:</a:t>
            </a:r>
          </a:p>
          <a:p>
            <a:pPr algn="just">
              <a:lnSpc>
                <a:spcPct val="150000"/>
              </a:lnSpc>
            </a:pPr>
            <a:endParaRPr lang="en-IN" sz="16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paper deals with multiple methods to analyze, identify, and predict election outcomes using social media data through various machine learning and Natural Language Processing models such as Decision Trees, KNN, Logistic Regression, sentiment analysis, and regression techniques.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accuracy of the models varies based on the quality of social media data, the complexity of the learning methods, and the size and diversity of the dataset, with results ranging from moderate to high accuracy.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 conclude that with a proper dataset, effective preprocessing, and the right algorithm, it is possible to achieve reliable election predictions and meaningful insights for large-scale electoral analysis.</a:t>
            </a:r>
            <a:endParaRPr lang="en-IN" sz="2000" dirty="0"/>
          </a:p>
          <a:p>
            <a:pPr algn="just">
              <a:lnSpc>
                <a:spcPct val="150000"/>
              </a:lnSpc>
            </a:pPr>
            <a:endParaRPr lang="en-IN" dirty="0"/>
          </a:p>
          <a:p>
            <a:pPr algn="just">
              <a:lnSpc>
                <a:spcPct val="150000"/>
              </a:lnSpc>
            </a:pPr>
            <a:endParaRPr lang="en-IN" dirty="0"/>
          </a:p>
          <a:p>
            <a:pPr algn="just">
              <a:lnSpc>
                <a:spcPct val="150000"/>
              </a:lnSpc>
            </a:pPr>
            <a:endParaRPr lang="en-IN" dirty="0"/>
          </a:p>
          <a:p>
            <a:pPr algn="just">
              <a:lnSpc>
                <a:spcPct val="150000"/>
              </a:lnSpc>
            </a:pPr>
            <a:endParaRPr lang="en-IN" dirty="0"/>
          </a:p>
          <a:p>
            <a:pPr algn="just">
              <a:lnSpc>
                <a:spcPct val="150000"/>
              </a:lnSpc>
            </a:pPr>
            <a:endParaRPr lang="en-IN" dirty="0"/>
          </a:p>
        </p:txBody>
      </p:sp>
    </p:spTree>
    <p:extLst>
      <p:ext uri="{BB962C8B-B14F-4D97-AF65-F5344CB8AC3E}">
        <p14:creationId xmlns:p14="http://schemas.microsoft.com/office/powerpoint/2010/main" val="2876259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ph type="title"/>
          </p:nvPr>
        </p:nvSpPr>
        <p:spPr>
          <a:xfrm>
            <a:off x="2618088" y="2597764"/>
            <a:ext cx="8915399" cy="1468800"/>
          </a:xfrm>
        </p:spPr>
        <p:txBody>
          <a:bodyPr>
            <a:normAutofit/>
          </a:bodyPr>
          <a:lstStyle/>
          <a:p>
            <a:r>
              <a:rPr lang="en-IN" sz="8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81179931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967</TotalTime>
  <Words>1048</Words>
  <Application>Microsoft Office PowerPoint</Application>
  <PresentationFormat>Widescreen</PresentationFormat>
  <Paragraphs>139</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Cambria</vt:lpstr>
      <vt:lpstr>Century Gothic</vt:lpstr>
      <vt:lpstr>Times New Roman</vt:lpstr>
      <vt:lpstr>Wingdings</vt:lpstr>
      <vt:lpstr>Wingdings 3</vt:lpstr>
      <vt:lpstr>Wisp</vt:lpstr>
      <vt:lpstr>A Systematic Review of Predicting Elections Based on Social Media Data</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Bhanu K</dc:creator>
  <cp:lastModifiedBy>CHARAN M</cp:lastModifiedBy>
  <cp:revision>74</cp:revision>
  <dcterms:created xsi:type="dcterms:W3CDTF">2025-01-09T14:27:37Z</dcterms:created>
  <dcterms:modified xsi:type="dcterms:W3CDTF">2026-03-19T05:41:14Z</dcterms:modified>
</cp:coreProperties>
</file>